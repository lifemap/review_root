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2844"/>
          </a:solidFill>
          <a:ln w="76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/>
          <a:lstStyle/>
          <a:p>
            <a:pPr algn="ctr"/>
            <a:r>
              <a:rPr sz="1100" b="1">
                <a:solidFill>
                  <a:srgbClr val="60A5FA"/>
                </a:solidFill>
                <a:latin typeface="Apple SD Gothic Neo"/>
              </a:rPr>
              <a:t>Full-Stack AI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5E5E5"/>
                </a:solidFill>
                <a:latin typeface="Apple SD Gothic Neo"/>
              </a:rPr>
              <a:t>리뷰모으기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Apple SD Gothic Neo"/>
              </a:rPr>
              <a:t>진짜 리뷰</a:t>
            </a:r>
            <a:r>
              <a:rPr sz="2600" b="1" i="0">
                <a:solidFill>
                  <a:srgbClr val="E5E5E5"/>
                </a:solidFill>
                <a:latin typeface="Apple SD Gothic Neo"/>
              </a:rPr>
              <a:t>만 한곳에 모아보세요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AAAAA"/>
                </a:solidFill>
                <a:latin typeface="Apple SD Gothic Neo"/>
              </a:rPr>
              <a:t>쿠팡·11번가·네이버에 흩어진 진짜 리뷰만 AI로 광고를 걸러내고,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AAAAA"/>
                </a:solidFill>
                <a:latin typeface="Apple SD Gothic Neo"/>
              </a:rPr>
              <a:t>내 체형/취향과 가까운 사람의 리뷰만 모아 한곳에서 보여주는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Menlo"/>
              </a:rPr>
              <a:t>Next.js 15 · BullMQ · OpenAI GPT-4o-mini · Elasticsearch · Docker · AWS EC2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dopejk@gmail.com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01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프로젝트 개요 — 문제 정의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3707" y="169164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027" y="1920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ple SD Gothic Neo"/>
              </a:rPr>
              <a:t>문제 1: 리뷰 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468880"/>
            <a:ext cx="31546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쿠팡·11번가·네이버 등 플랫폼마다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리뷰가 흩어져 있어, 같은 상품도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사이트마다 새로 검색해야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4187" y="169164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8507" y="1920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B308"/>
                </a:solidFill>
                <a:latin typeface="Apple SD Gothic Neo"/>
              </a:rPr>
              <a:t>문제 2: 광고성 리뷰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507" y="2468880"/>
            <a:ext cx="31546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협찬·체험단 후기가 일반 리뷰와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섞여 있어 '진짜 사용 후기'를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찾기 어렵다.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667" y="169164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8987" y="1920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084FC"/>
                </a:solidFill>
                <a:latin typeface="Apple SD Gothic Neo"/>
              </a:rPr>
              <a:t>문제 3: 비개인화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8987" y="2468880"/>
            <a:ext cx="31546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내 체형·연령대와 다른 사람의 리뷰를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똑같이 보여줘서 핏 판단에 도움이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되지 않는다.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0911535" cy="21031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Apple SD Gothic Neo"/>
              </a:rPr>
              <a:t>솔루션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E5E5E5"/>
                </a:solidFill>
                <a:latin typeface="Apple SD Gothic Neo"/>
              </a:rPr>
              <a:t>쿠팡·11번가·네이버에서 리뷰를 자동 수집 → OpenAI(GPT-4o-mini)로 광고/체형/속성 분석 후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E5E5E5"/>
                </a:solidFill>
                <a:latin typeface="Apple SD Gothic Neo"/>
              </a:rPr>
              <a:t>사용자가 한곳에서 진짜 리뷰만 빠르게 비교할 수 있도록 정렬·필터링하여 제공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01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프로젝트 범위 &amp; 핵심 KPI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5E5"/>
                </a:solidFill>
                <a:latin typeface="Apple SD Gothic Neo"/>
              </a:rPr>
              <a:t>쿠팡, 11번가, 네이버 (확장 가능한 플러그인 구조)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194560"/>
            <a:ext cx="1072865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331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카테고리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5E5"/>
                </a:solidFill>
                <a:latin typeface="Apple SD Gothic Neo"/>
              </a:rPr>
              <a:t>현재 패션 중심 — 뷰티·가전 확장 예정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72865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9260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주요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5E5"/>
                </a:solidFill>
                <a:latin typeface="Apple SD Gothic Neo"/>
              </a:rPr>
              <a:t>검색 / 리뷰 모으기 / AI 광고 필터 / 체형 매칭 / 관리자 콘솔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383280"/>
            <a:ext cx="1072865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5204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운영 형태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0440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5E5"/>
                </a:solidFill>
                <a:latin typeface="Apple SD Gothic Neo"/>
              </a:rPr>
              <a:t>1인 풀스택 개발 — 기획·디자인·개발·인프라·배포 전 영역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977640"/>
            <a:ext cx="1072865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4251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핵심 KPI (AI 강화)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147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147" y="4937760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ADE80"/>
                </a:solidFill>
                <a:latin typeface="Apple SD Gothic Neo"/>
              </a:rPr>
              <a:t>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" y="56692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AI 비용 절감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(배치+모델 최적화)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9787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9787" y="4937760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60A5FA"/>
                </a:solidFill>
                <a:latin typeface="Apple SD Gothic Neo"/>
              </a:rP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6947" y="56692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광고 오탐률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(1,000건 샘플 검증)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4427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4427" y="4937760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C084FC"/>
                </a:solidFill>
                <a:latin typeface="Apple SD Gothic Neo"/>
              </a:rPr>
              <a:t>8x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56692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리뷰 처리 속도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(배치 처리 후)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9067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9067" y="4937760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B923C"/>
                </a:solidFill>
                <a:latin typeface="Apple SD Gothic Neo"/>
              </a:rPr>
              <a:t>25+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6227" y="56692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88888"/>
                </a:solidFill>
                <a:latin typeface="Apple SD Gothic Neo"/>
              </a:rPr>
              <a:t>Admin API 엔드포인트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02 —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주요 기능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3727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1783080"/>
            <a:ext cx="73152" cy="19659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487" y="196596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5E5"/>
                </a:solidFill>
                <a:latin typeface="Apple SD Gothic Neo"/>
              </a:rPr>
              <a:t>메인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256032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다크 톤 검색 인터페이스 + 인기 검색어 자동 롤링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자동완성 · 최근 검색어 · 트렌드 키워드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7287" y="1783080"/>
            <a:ext cx="73152" cy="19659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96596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5E5"/>
                </a:solidFill>
                <a:latin typeface="Apple SD Gothic Neo"/>
              </a:rPr>
              <a:t>상품 검색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56032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Elasticsearch 한글 형태소 검색 (Nori) + 그리드 카드 UI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플랫폼·가격·평점 필터 및 다중 정렬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727" y="4114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3727" y="4206240"/>
            <a:ext cx="73152" cy="196596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487" y="43891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5E5"/>
                </a:solidFill>
                <a:latin typeface="Apple SD Gothic Neo"/>
              </a:rPr>
              <a:t>리뷰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87" y="498348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체형 유사도 정렬 + AI 광고 필터링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'비슷한 체형' 배지 · 광고 리뷰 자동 숨김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114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4206240"/>
            <a:ext cx="73152" cy="1965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43891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5E5"/>
                </a:solidFill>
                <a:latin typeface="Apple SD Gothic Neo"/>
              </a:rPr>
              <a:t>관리자 콘솔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98348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파이프라인 큐 제어 (일시정지/재개/재시도)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AAAAAA"/>
                </a:solidFill>
                <a:latin typeface="Apple SD Gothic Neo"/>
              </a:rPr>
              <a:t>실시간 워커 상태 + 통계 대시보드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03 —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기술 스택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5147" y="1691640"/>
            <a:ext cx="269748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1965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FRONTEND &amp;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747.5" y="2404872"/>
            <a:ext cx="224028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3747" y="2606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Next.js 15 (App Router · RSC)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TypeScript ·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74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Tailwind CSS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" y="4389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Zustand · TanStack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9787" y="1691640"/>
            <a:ext cx="269748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387" y="1965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Apple SD Gothic Neo"/>
              </a:rPr>
              <a:t>DATABASE &amp; SEARCH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58387.5" y="2404872"/>
            <a:ext cx="224028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58387" y="2606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MySQL 8.0 (Drizzle ORM)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Elasticsearch 8 (Nori 한글)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838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Redis 7 (캐시 + 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8387" y="4389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Lazy Proxy 커넥션 패턴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1691640"/>
            <a:ext cx="269748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3027" y="1965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84FC"/>
                </a:solidFill>
                <a:latin typeface="Apple SD Gothic Neo"/>
              </a:rPr>
              <a:t>AI &amp; CRAWLER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93027.5" y="2404872"/>
            <a:ext cx="224028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93027" y="2606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OpenAI GPT-4o-mini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3027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JSON Object (response_format)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02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Playwright (동적 크롤링)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3027" y="4389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BullMQ + 5개 큐 워커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9067" y="1691640"/>
            <a:ext cx="269748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7667" y="1965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Apple SD Gothic Neo"/>
              </a:rPr>
              <a:t>INFRA &amp; DEVOPS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27667.5" y="2404872"/>
            <a:ext cx="224028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27667" y="2606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Docker Compose (6컨테이너)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7667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AWS EC2 t3.medium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766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GitHub Actions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7667" y="4389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•  Nginx + Let's Encrypt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04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시스템 아키텍처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46634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5433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┌─────────────┐    ┌──────────────┐    ┌─────────────┐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│  사용자 (웹)  │ ─→ │  Next.js 15  │ ─→ │  MySQL 8.0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│   브라우저    │    │  App Router  │    │   Drizzle 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└─────────────┘    └──────┬───────┘    └─────────────┘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                  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                    │  큐 작업 발행 (BullMQ)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                    ▼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┌─────────────┐    ┌──────────────┐    ┌─────────────┐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│   Redis     │ ←→ │  BullMQ 큐   │ ─→ │  Workers  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│  큐 / 캐시   │    │  5개 파이프   │    │ (Crawler) 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└─────────────┘    └──────┬───────┘    └──────┬──────┘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                    │                 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       ┌────────────┘                 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       ▼                                ▼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┌────────────┐                  ┌──────────────┐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│ OpenAI API │                  │  Playwright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│ GPT-4o-mini│                  │  쿠팡/11번가  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5E5"/>
                </a:solidFill>
                <a:latin typeface="Menlo"/>
              </a:rPr>
              <a:t>      └────────────┘                  └──────────────┘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04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데이터 파이프라인 흐름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60A5FA"/>
                </a:solidFill>
                <a:latin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ple SD Gothic Neo"/>
              </a:rPr>
              <a:t>Crawl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ple SD Gothic Neo"/>
              </a:rPr>
              <a:t>Playwright로 상품 페이지 동적 렌더링하여 리뷰 HTML 추출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514600"/>
            <a:ext cx="109115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40080" y="2651760"/>
            <a:ext cx="594360" cy="5943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4ADE80"/>
                </a:solidFill>
                <a:latin typeface="Apple SD Gothic Ne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ple SD Gothic Neo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8892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ple SD Gothic Neo"/>
              </a:rPr>
              <a:t>리뷰 본문 / 평점 / 작성자 / 체형 정보 파싱 → Raw 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383280"/>
            <a:ext cx="109115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C084FC"/>
                </a:solidFill>
                <a:latin typeface="Apple SD Gothic Ne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11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pple SD Gothic Neo"/>
              </a:rPr>
              <a:t>AI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ple SD Gothic Neo"/>
              </a:rPr>
              <a:t>GPT-4o-mini로 광고 분류 + 속성 추출 (15개 단위 배치 처리)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4251960"/>
            <a:ext cx="109115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0080" y="4389120"/>
            <a:ext cx="594360" cy="5943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B923C"/>
                </a:solidFill>
                <a:latin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  <a:latin typeface="Apple SD Gothic Neo"/>
              </a:rPr>
              <a:t>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2628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ple SD Gothic Neo"/>
              </a:rPr>
              <a:t>MySQL 저장 + Elasticsearch 색인 → 검색 가능한 상태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5120640"/>
            <a:ext cx="109115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" y="5257800"/>
            <a:ext cx="594360" cy="5943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EAB308"/>
                </a:solidFill>
                <a:latin typeface="Apple SD Gothic Ne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B308"/>
                </a:solidFill>
                <a:latin typeface="Apple SD Gothic Neo"/>
              </a:rPr>
              <a:t>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39496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ple SD Gothic Neo"/>
              </a:rPr>
              <a:t>사용자 요청 시 체형 유사도 정렬 + 광고 필터링 → 개인화 결과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04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데이터베이스 스키마 (ERD)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0847" y="1691640"/>
            <a:ext cx="2212848" cy="242316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7423" y="1728216"/>
            <a:ext cx="2139696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810512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Menlo"/>
              </a:rPr>
              <a:t>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233172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266090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" y="2990088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319272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base_url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3648456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is_active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5135" y="1691640"/>
            <a:ext cx="2212848" cy="2752344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21711" y="1728216"/>
            <a:ext cx="2139696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8015" y="1810512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Menlo"/>
              </a:rP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015" y="233172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8015" y="266090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platform_id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8015" y="2990088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external_id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8015" y="3319272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8015" y="3648456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8015" y="397764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image_url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9423" y="1691640"/>
            <a:ext cx="2212848" cy="30815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5999" y="1728216"/>
            <a:ext cx="2139696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2303" y="1810512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Menlo"/>
              </a:rPr>
              <a:t>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2303" y="233172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2303" y="266090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product_id 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2303" y="2990088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author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2303" y="3319272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2303" y="3648456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2303" y="397764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size_feedback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2303" y="430682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reviewer_height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3711" y="1691640"/>
            <a:ext cx="2212848" cy="2752344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30287" y="1728216"/>
            <a:ext cx="2139696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6591" y="1810512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Menlo"/>
              </a:rPr>
              <a:t>review_analyses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6591" y="233172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6591" y="266090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review_id 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6591" y="2990088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prompt_version_id 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6591" y="3319272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is_sponsored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6591" y="3648456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sponsored_confidence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6591" y="397764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human_override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97999" y="1691640"/>
            <a:ext cx="2212848" cy="242316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34575" y="1728216"/>
            <a:ext cx="2139696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0879" y="1810512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B308"/>
                </a:solidFill>
                <a:latin typeface="Menlo"/>
              </a:rPr>
              <a:t>ai_prompt_versions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0879" y="233172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0879" y="266090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prompt_type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0879" y="2990088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version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0879" y="3319272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content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0879" y="3648456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Menlo"/>
              </a:rPr>
              <a:t>is_active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pple SD Gothic Neo"/>
              </a:rPr>
              <a:t>* Drizzle ORM 기반 · ↗ 외래키 · human_override: 관리자 수동 라벨 → 프롬프트 개선에 활용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05 —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AI Pipeline 전체 플로우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2287" y="178308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1783080"/>
            <a:ext cx="1737360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015" y="1947672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0A5FA"/>
                </a:solidFill>
                <a:latin typeface="Apple SD Gothic Neo"/>
              </a:rPr>
              <a:t>입력 리뷰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015" y="2377440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content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rating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platform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27935.5" y="2491740.0"/>
            <a:ext cx="128016.0" cy="0.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4239" y="178308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4239" y="1783080"/>
            <a:ext cx="1737360" cy="73152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3967" y="1947672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AAAAAA"/>
                </a:solidFill>
                <a:latin typeface="Apple SD Gothic Neo"/>
              </a:rPr>
              <a:t>길이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3967" y="2377440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10자 미만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스킵 처리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29887.5" y="2491740.0"/>
            <a:ext cx="128016.0" cy="0.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6191" y="178308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6191" y="1783080"/>
            <a:ext cx="173736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5919" y="1947672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ple SD Gothic Neo"/>
              </a:rPr>
              <a:t>광고 판별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5919" y="2377440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isSponsored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confidence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0.0~1.0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1839.5" y="2491740.0"/>
            <a:ext cx="128016.0" cy="0.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8143" y="178308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3" y="1783080"/>
            <a:ext cx="173736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7871" y="1947672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ple SD Gothic Neo"/>
              </a:rPr>
              <a:t>속성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7871" y="2377440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장단점 키워드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sentimentScore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sizeFeedback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33791.5" y="2491740.0"/>
            <a:ext cx="128016.0" cy="0.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80095" y="178308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0095" y="1783080"/>
            <a:ext cx="1737360" cy="73152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9823" y="1947672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B923C"/>
                </a:solidFill>
                <a:latin typeface="Apple SD Gothic Neo"/>
              </a:rPr>
              <a:t>DB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9823" y="2377440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review_analyses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review_keywords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upsert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35743.5" y="2491740.0"/>
            <a:ext cx="128016.0" cy="0.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82047" y="178308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82047" y="1783080"/>
            <a:ext cx="1737360" cy="7315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1775" y="1947672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084FC"/>
                </a:solidFill>
                <a:latin typeface="Apple SD Gothic Neo"/>
              </a:rPr>
              <a:t>요약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1775" y="2377440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pros/cons Top3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size_insights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product update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3429000"/>
            <a:ext cx="109115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0080" y="3611880"/>
            <a:ext cx="3545738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794760"/>
            <a:ext cx="31799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GPT-4o-mini 호출 파라미터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.0" y="4178808"/>
            <a:ext cx="3179978.33333333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4297680"/>
            <a:ext cx="317997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model: gpt-4o-mini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temperature: 0.1 (일관성 우선)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response_format: json_object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max_retries: 3회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backoff: exponential (1s, 2s, 4s)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2978" y="3611880"/>
            <a:ext cx="3545738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5858" y="3794760"/>
            <a:ext cx="31799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Apple SD Gothic Neo"/>
              </a:rPr>
              <a:t>배치 처리 전략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05858.333333334" y="4178808"/>
            <a:ext cx="3179978.333333334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05858" y="4297680"/>
            <a:ext cx="317997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배치 크기: 15개 리뷰/호출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worker concurrency: 5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10자 미만 리뷰 → 스킵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부분 실패 → DEFAULT_RESULT 반환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Duplicate key → upsert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5876" y="3611880"/>
            <a:ext cx="3545738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8756" y="3794760"/>
            <a:ext cx="31799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Apple SD Gothic Neo"/>
              </a:rPr>
              <a:t>프롬프트 동적 로드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188756.666666667" y="4178808"/>
            <a:ext cx="3179978.333333333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88756" y="4297680"/>
            <a:ext cx="317997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DB ai_prompt_versions 조회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(prompt_type='system', is_active=true)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없으면 DEFAULT_SYSTEM_PROMPT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오탐 사례 최대 10건 자동 추가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few-shot 학습 효과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05 —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프롬프트 엔지니어링 전략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5303520" cy="46634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시스템 프롬프트 구조 (3-Layer)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58568"/>
            <a:ext cx="484632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423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Apple SD Gothic Neo"/>
              </a:rPr>
              <a:t>Layer 1: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당신은 패션 리뷰 분석 전문가입니다.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리뷰를 분석하여 JSON 형식으로 응답하세요.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Apple SD Gothic Neo"/>
              </a:rPr>
              <a:t>Layer 2: Context &amp;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[확실한 광고 - confidence 0.8 이상]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'협찬','제공','체험단' 명시적 키워드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[광고 아닌 경우]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긍정적 톤만으로는 절대 광고 판별 금지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'구조'로 판별: 브랜드 반복, 할인코드, 링크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Apple SD Gothic Neo"/>
              </a:rPr>
              <a:t>Layer 3: Output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JSON 스키마 고정: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isSponsored · sponsoredConfidence · sponsoredReason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advanageKeywords · disadvantageKeywords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sentimentScore (-1.0~1.0) · sizeFeedback ·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B308"/>
                </a:solidFill>
                <a:latin typeface="Apple SD Gothic Neo"/>
              </a:rPr>
              <a:t>Layer 4: Few-shot (동적)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607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관리자 오버라이드 데이터 최대 10건 자동 주입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'이 패턴은 광고가 아닙니다' 예시로 활용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human_override=true 최신순 정렬 삽입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Apple SD Gothic Neo"/>
              </a:rPr>
              <a:t>Zero-shot 선택 근거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2258568"/>
            <a:ext cx="502920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46520" y="2377440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• 광고 판별: 명시적 키워드 기반 → 예시 없이도 정확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• Few-shot: 관리자 오버라이드 데이터로 동적 생성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• 고정 예시 대신 실제 오탐 사례 → 더 효과적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• temperature=0.1 → 일관성·재현성 우선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Apple SD Gothic Neo"/>
              </a:rPr>
              <a:t>Structured Output 패턴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46520" y="4178808"/>
            <a:ext cx="502920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46520" y="429768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response_format: { type: 'json_object' 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파싱 실패율 거의 0% 달성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JSON.parse() 에러 시 DEFAULT_RESULT 반환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Menlo"/>
              </a:rPr>
              <a:t>→ null/undefined 필드 자동 보정 로직 포함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12080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84FC"/>
                </a:solidFill>
                <a:latin typeface="Apple SD Gothic Neo"/>
              </a:rPr>
              <a:t>프롬프트 버전 관리 시스템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46520" y="5733288"/>
            <a:ext cx="502920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46520" y="58521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ai_prompt_versions 테이블 · prompt_type + version 컬럼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is_active=true 1개만 활성 · Admin에서 1-click 활성화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review_analyses.prompt_version_id → 분석 추적 가능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05 —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AI 비용 최적화 전략 — 93% 절감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비용 비교 (리뷰 1,000건 분석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ple SD Gothic Neo"/>
              </a:rPr>
              <a:t>Before (GPT-4)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286000"/>
            <a:ext cx="7772400" cy="347472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286000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ple SD Gothic Neo"/>
              </a:rPr>
              <a:t>$100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Apple SD Gothic Neo"/>
              </a:rPr>
              <a:t>After (최적화)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770632"/>
            <a:ext cx="544068" cy="34747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770632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Apple SD Gothic Neo"/>
              </a:rPr>
              <a:t>$7 (93% 절감)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2625013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749040"/>
            <a:ext cx="365760" cy="365760"/>
          </a:xfrm>
          <a:prstGeom prst="ellipse">
            <a:avLst/>
          </a:prstGeom>
          <a:solidFill>
            <a:srgbClr val="1A1A1A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ADE80"/>
                </a:solidFill>
                <a:latin typeface="Apple SD Gothic Ne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94760"/>
            <a:ext cx="18934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Apple SD Gothic Neo"/>
              </a:rPr>
              <a:t>모델 다운그레이드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.0" y="4270248"/>
            <a:ext cx="2350693.7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4389120"/>
            <a:ext cx="23506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GPT-4 → GPT-4o-mini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품질 손실 최소화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광고 판별 정확도 유지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(구조 기반 판별 특성상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소형 모델로 충분)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2253" y="3611880"/>
            <a:ext cx="2625013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39413" y="3749040"/>
            <a:ext cx="365760" cy="365760"/>
          </a:xfrm>
          <a:prstGeom prst="ellipse">
            <a:avLst/>
          </a:prstGeom>
          <a:solidFill>
            <a:srgbClr val="1A1A1A"/>
          </a:solidFill>
          <a:ln w="1524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60A5FA"/>
                </a:solidFill>
                <a:latin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6613" y="3794760"/>
            <a:ext cx="18934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15개 배치 처리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9413.75" y="4270248"/>
            <a:ext cx="2350693.7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39413" y="4389120"/>
            <a:ext cx="23506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단건 → 15개 묶음 호출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API 호출 횟수 93% 감소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worker concurrency=5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병렬 처리로 속도 유지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처리 속도 8x 향상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4427" y="3611880"/>
            <a:ext cx="2625013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1587" y="3749040"/>
            <a:ext cx="365760" cy="365760"/>
          </a:xfrm>
          <a:prstGeom prst="ellipse">
            <a:avLst/>
          </a:prstGeom>
          <a:solidFill>
            <a:srgbClr val="1A1A1A"/>
          </a:solidFill>
          <a:ln w="1524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084FC"/>
                </a:solidFill>
                <a:latin typeface="Apple SD Gothic Ne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8787" y="3794760"/>
            <a:ext cx="18934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84FC"/>
                </a:solidFill>
                <a:latin typeface="Apple SD Gothic Neo"/>
              </a:rPr>
              <a:t>프롬프트 최적화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1587.5" y="4270248"/>
            <a:ext cx="2350693.7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1587" y="4389120"/>
            <a:ext cx="23506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불필요한 설명 제거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구체적 규칙 명시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오탐 사례 동적 추가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(max 10건)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tokens/요청 ~40% 절감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26601" y="3611880"/>
            <a:ext cx="2625013" cy="2560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63761" y="3749040"/>
            <a:ext cx="365760" cy="365760"/>
          </a:xfrm>
          <a:prstGeom prst="ellipse">
            <a:avLst/>
          </a:prstGeom>
          <a:solidFill>
            <a:srgbClr val="1A1A1A"/>
          </a:solidFill>
          <a:ln w="1524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B923C"/>
                </a:solidFill>
                <a:latin typeface="Apple SD Gothic Ne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0961" y="3794760"/>
            <a:ext cx="18934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Apple SD Gothic Neo"/>
              </a:rPr>
              <a:t>안전망 설계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63761.25" y="4270248"/>
            <a:ext cx="2350693.7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63761" y="4389120"/>
            <a:ext cx="23506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10자 미만 리뷰 스킵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API 실패 → DEFAULT_RESULT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재시도 3회 exponential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서비스 중단 없는 폴백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confidence 원본 저장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05 —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AI 정확도 &amp; 검증 시스템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3545738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Apple SD Gothic Neo"/>
              </a:rPr>
              <a:t>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0A5FA"/>
                </a:solidFill>
                <a:latin typeface="Apple SD Gothic Neo"/>
              </a:rPr>
              <a:t>오탐률 (False Positive)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17997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ple SD Gothic Neo"/>
              </a:rPr>
              <a:t>광고가 아닌데 광고로 분류한 비율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ple SD Gothic Neo"/>
              </a:rPr>
              <a:t>샘플 1,000건 수동 라벨링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91640"/>
            <a:ext cx="3545738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828800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ADE80"/>
                </a:solidFill>
                <a:latin typeface="Apple SD Gothic Neo"/>
              </a:rPr>
              <a:t>~90%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377440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Apple SD Gothic Neo"/>
              </a:rPr>
              <a:t>감지율 (Recall)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2697480"/>
            <a:ext cx="317997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ple SD Gothic Neo"/>
              </a:rPr>
              <a:t>실제 광고를 잡아내는 비율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ple SD Gothic Neo"/>
              </a:rPr>
              <a:t>명시적 키워드 기반 → 높은 재현율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5876" y="1691640"/>
            <a:ext cx="3545738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8756" y="1828800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C084FC"/>
                </a:solidFill>
                <a:latin typeface="Apple SD Gothic Neo"/>
              </a:rPr>
              <a:t>0.70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756" y="2377440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  <a:latin typeface="Apple SD Gothic Neo"/>
              </a:rPr>
              <a:t>confidence 임계값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8756" y="2697480"/>
            <a:ext cx="317997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ple SD Gothic Neo"/>
              </a:rPr>
              <a:t>site_settings 테이블 동적 설정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Apple SD Gothic Neo"/>
              </a:rPr>
              <a:t>Admin 슬라이더로 실시간 조정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246120"/>
            <a:ext cx="109115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383280"/>
            <a:ext cx="3545738" cy="2834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31799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검증 방법론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.0" y="3950208"/>
            <a:ext cx="3179978.3333333335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069080"/>
            <a:ext cx="317997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1. 샘플 수집: 1,000건 무작위 추출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   (플랫폼별 균등 분포)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2. 수동 라벨링: 관리자 직접 판별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   Admin /admin/reviews 페이지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3. 오탐 식별: AI=광고, 사람=비광고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   → human_override=true 저장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4. 프롬프트 보강: 오탐 사례 자동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   주입 (max 10건 few-shot)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2978" y="3383280"/>
            <a:ext cx="3545738" cy="2834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5858" y="3566160"/>
            <a:ext cx="31799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Apple SD Gothic Neo"/>
              </a:rPr>
              <a:t>오탐 방지 전략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05858.333333334" y="3950208"/>
            <a:ext cx="3179978.333333334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05858" y="4069080"/>
            <a:ext cx="317997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핵심 원칙: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긍정적 톤 ≠ 광고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'구조'로 판별: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브랜드명 반복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할인코드 포함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구매링크 삽입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블로그 포스팅 문체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템플릿 형식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sponsoredConfidence &lt; 0.7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→ 일반 리뷰로 표시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threshold Admin에서 실시간 조정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5876" y="3383280"/>
            <a:ext cx="3545738" cy="2834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8756" y="3566160"/>
            <a:ext cx="31799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84FC"/>
                </a:solidFill>
                <a:latin typeface="Apple SD Gothic Neo"/>
              </a:rPr>
              <a:t>폴백 &amp; 미래 계획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88756.666666667" y="3950208"/>
            <a:ext cx="3179978.333333333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88756" y="4069080"/>
            <a:ext cx="317997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폴백 체계: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API 실패 → DEFAULT_RESULT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JSON 파싱 오류 → 기본값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10자 미만 → AI 스킵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관리자 오버라이드: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PATCH /admin/sponsored-reviews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Optimistic UI 업데이트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human_override=true 저장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향후 Fine-tuning 계획: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축적된 정답 데이터 활용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• 커스텀 모델 학습 가능성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05 —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체형 매칭 알고리즘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5303520" cy="46634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자유서식 체형 텍스트 → 표준 스키마 변환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58568"/>
            <a:ext cx="484632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42316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Apple SD Gothic Neo"/>
              </a:rPr>
              <a:t>Step 1: 정규식 파싱 (1차 시도)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8463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리뷰어 체형 자유서식 예시: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'170/65', '키170 몸무게65', '170cm 65kg'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const size = option?.match(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  /\b(XXS|XS|S|M|L|XL|XXL|\d{2,3})\b/i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)?.[1]?.toUpperCase();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reviews.reviewer_height, reviewer_weight 컬럼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Apple SD Gothic Neo"/>
              </a:rPr>
              <a:t>Step 2: AI Fallback (정규식 실패 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GPT-4o-mini로 상품명 파싱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parseProductName(rawName)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→ { brand, productName, gender,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    colorway, styleCode, displayName }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product-parser 전용 프롬프트 버전 관리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실패 시 원본 rawName 반환 (서비스 유지)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69279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Apple SD Gothic Neo"/>
              </a:rPr>
              <a:t>표준 스키마 (user_profiles)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0760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height: smallint  // cm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weight: smallint  // kg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usualSize: varchar  // S/M/L/XL...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bodyShape: varchar  // 자유 기술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footSize / footWidth / footArch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Apple SD Gothic Neo"/>
              </a:rPr>
              <a:t>사이즈 인사이트 생성 (summary-generation worker)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46520" y="2258568"/>
            <a:ext cx="502920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46520" y="237744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구매 옵션에서 표준 사이즈 추출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const size = option?.match(/\b(XXS|XS|S|M|L|XL)\b/i)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사이즈별 집계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{ count, small%, perfect%, large%,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  avg_height, avg_weight }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size_insights 테이블 upsert (transaction)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AAAAAA"/>
                </a:solidFill>
                <a:latin typeface="Menlo"/>
              </a:rPr>
              <a:t>// 로그인 사용자 → usualSize 기반 추천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84FC"/>
                </a:solidFill>
                <a:latin typeface="Apple SD Gothic Neo"/>
              </a:rPr>
              <a:t>체형 유사도 매칭 로직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46520" y="4681728"/>
            <a:ext cx="5029200" cy="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6520" y="4800600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입력: 사용자 프로필 (height, weight, usualSize)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매칭 기준 (reviews 테이블 필드):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  reviewer_height, reviewer_weight, purchase_option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추천 로직: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  1. 사용자 usualSize와 동일 사이즈 구매자 우선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  2. 키/몸무게 근사값 리뷰어 정렬 (±10% 범위)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  3. '비슷한 체형' 배지 → 프론트엔드 표시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5E5E5"/>
                </a:solidFill>
                <a:latin typeface="Apple SD Gothic Neo"/>
              </a:rPr>
              <a:t>  4. size_insights에서 해당 사이즈 fit 통계 제공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05 —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AI 코드 하이라이트 — 핵심 구현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1444752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features/ai-processing/analyzer.ts — Structured Output + Exponential Backoff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16712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240280"/>
            <a:ext cx="1045433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GPT-4o-mini 호출 (json_object 강제)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const completion = await getOpenAI().chat.completions.create({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model: 'gpt-4o-mini',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messages: [{ role: 'system', content: systemPrompt }, { role: 'user', content: prompt }],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temperature: 0.1,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response_format: { type: 'json_object' },  // 파싱 실패율 ~0%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Exponential Backoff: delay = 1000 * 2^(attempt-1) ms, MAX_RETRIES=3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00984"/>
            <a:ext cx="10911535" cy="1444752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3814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features/ai-processing/prompts.ts — 활성 프롬프트 동적 로드 + Few-shot 주입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776472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849624"/>
            <a:ext cx="1045433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DB에서 active 프롬프트 조회 (빌드타임 X, 런타임 O)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const [active] = await db.select().from(aiPromptVersions)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.where(and(eq(aiPromptVersions.promptType, 'system'), eq(aiPromptVersions.isActive, true)))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.limit(1);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관리자 오버라이드 사례 10건 자동 주입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const falsePositives = await db.select().from(reviewAnalyses)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.where(and(eq(reviewAnalyses.humanOverride, true), eq(reviewAnalyses.isSponsored, false)))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  .orderBy(desc(reviewAnalyses.updatedAt)).limit(FALSE_POSITIVE_LIMIT);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10328"/>
            <a:ext cx="10911535" cy="1444752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47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features/queue/workers/ai-processing.ts — 배치 처리 + 부분 실패 처리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5385816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5458968"/>
            <a:ext cx="1045433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worker concurrency=5, 15개 리뷰 단위 analyzeReviews() 호출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const { results, promptVersionId } = await analyzeReviews(input); // 15개 일괄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부분 실패 처리: DEFAULT_RESULT로 채워 서비스 유지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results.map((r) =&gt; resultMap.get(r.id) || { ...DEFAULT_RESULT })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// onDuplicateKeyUpdate: 재시도 시 중복 없이 upsert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E5E5E5"/>
                </a:solidFill>
                <a:latin typeface="Menlo"/>
              </a:rPr>
              <a:t>await db.insert(reviewAnalyses).values({...}).onDuplicateKeyUpdate({ set: {...} });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06 — CODE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DB Lazy Proxy &amp; OpenAI Singleton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services/db/index.ts — DB Lazy Proxy 패턴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5856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37744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export const db = new Proxy({} as Database,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get(_t, prop)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  if (!_db) _db = drizzle(mysql2(env.DATABASE_URL));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  return Reflect.get(_db, prop);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},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});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빌드 타임에 DATABASE_URL 없이도 import 가능 → Next.js 정적 분석 안전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features/ai-processing/analyzer.ts — OpenAI Lazy Singleton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68172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80060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let _openai: OpenAI | null = null;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function getOpenAI(): OpenAI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if (!_openai) _openai = new OpenAI({ apiKey: process.env.OPENAI_API_KEY });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return _openai;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next.config.ts: serverExternalPackages: ['openai', 'bullmq', 'ioredis']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06 — CODE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AI 호출 안정성 — Backoff &amp; 배치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features/ai-processing/analyzer.ts — Exponential Backoff 재시도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5856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37744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for (let attempt = 1; attempt &lt;= MAX_RETRIES; attempt++)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try { return await callOpenAI(prompt); 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catch (error)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  const delay = RETRY_DELAY_MS * Math.pow(2, attempt - 1); // 1s, 2s, 4s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  await sleep(delay);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최대 3회 재시도 후 DEFAULT_RESULT 반환 — 서비스 중단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workers/ai-processing.ts — 15개 단위 배치 + concurrency=5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68172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80060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리뷰 ID 배열을 15개씩 묶어 analyzeReviews() 호출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{ results, promptVersionId } = await analyzeReviews(input);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Worker 동시성 5 → 5개 배치 병렬 처리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worker = new Worker('ai-processing', handler, { concurrency: 5 });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단건 대비 API 호출 93% 감소, 처리 속도 8x 향상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06 — CODE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API 보호 &amp; 크롤러 확장성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middleware — JWT 인증 (localStorage 기반)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5856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37744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미들웨어: Authorization 헤더 검증 (API 라우트만)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token = req.headers.get('authorization')?.replace('Bearer ', '');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페이지 보호: admin/layout.tsx 클라이언트 사이드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localStorage에 access_token / refresh_token 저장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{ payload } = await jwtVerify(token, JWT_SECRET);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if (payload.role !== 'admin') return 403;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features/crawlers — 크롤러 레지스트리 (Strategy Pattern)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68172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80060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플랫폼별 크롤러 전략 패턴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CRAWLERS =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coupang:     new CoupangCrawler(),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elevenstreet: new ElevenStreetCrawler(),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twentynine:   new TwentyninesCrawler(),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};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// 새 플랫폼 추가: 클래스 하나 + 레지스트리 1줄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06 — CODE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Admin 운영 패턴 — 큐 제어 &amp; 낙관적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api/admin/queues/[name]/retry — BullMQ 실패 잡 재시도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5856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37744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queue = new Queue(params.name, { connection: redis });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failed = await queue.getFailed(0, 100);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await Promise.all(failed.map(j =&gt; j.retry()));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return NextResponse.json({ retried: failed.length 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911535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admin/reviews — 광고 판별 수동 오버라이드 (Optimistic UI)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681728.0"/>
            <a:ext cx="10454335" cy="0.0"/>
          </a:xfrm>
          <a:prstGeom prst="line">
            <a:avLst/>
          </a:prstGeom>
          <a:ln w="508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80060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const toggleAd = async (id: string, isAd: boolean) =&gt;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setReviews(prev =&gt; prev.map(r =&gt; r.id === id ? { ...r, isAd } : r));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try { await fetch(`/api/admin/sponsored-reviews/${id}`, {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  method: 'PATCH', body: JSON.stringify({ isAd }) }); 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catch { setReviews(snapshot); toast.error('실패'); }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  // human_override=true → 다음 프롬프트 개선에 자동 반영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E5E5"/>
                </a:solidFill>
                <a:latin typeface="Menlo"/>
              </a:rPr>
              <a:t>};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07 —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관리자 시스템 — 페이지별 기능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3727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1783080"/>
            <a:ext cx="73152" cy="19659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487" y="1920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5E5"/>
                </a:solidFill>
                <a:latin typeface="Apple SD Gothic Neo"/>
              </a:rPr>
              <a:t>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23317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Menlo"/>
              </a:rPr>
              <a:t>/admin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2697480"/>
            <a:ext cx="4892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통계 카드 (상품/리뷰/플랫폼)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워커 4종 상태 + 큐 상태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크롤링 트리거 / 재인덱싱 버튼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783080"/>
            <a:ext cx="73152" cy="196596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920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5E5"/>
                </a:solidFill>
                <a:latin typeface="Apple SD Gothic Neo"/>
              </a:rPr>
              <a:t>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3317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084FC"/>
                </a:solidFill>
                <a:latin typeface="Menlo"/>
              </a:rPr>
              <a:t>/admin/pipeline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697480"/>
            <a:ext cx="4892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큐 일시정지/재개/삭제/재시도/승격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실행 이력 (날짜·플랫폼·상태 필터)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크론 스케줄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3727" y="4114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727" y="4206240"/>
            <a:ext cx="73152" cy="19659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87" y="43434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5E5"/>
                </a:solidFill>
                <a:latin typeface="Apple SD Gothic Neo"/>
              </a:rPr>
              <a:t>상품·리뷰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487" y="475488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Menlo"/>
              </a:rPr>
              <a:t>/admin/products  •  /reviews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87" y="5120640"/>
            <a:ext cx="4892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검색 + 페이지네이션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다중 필터 + 인라인 상세 확장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광고 수동 오버라이드 (낙관적 UI)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4114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4206240"/>
            <a:ext cx="73152" cy="1965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43434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5E5"/>
                </a:solidFill>
                <a:latin typeface="Apple SD Gothic Neo"/>
              </a:rPr>
              <a:t>플랫폼·설정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475488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923C"/>
                </a:solidFill>
                <a:latin typeface="Menlo"/>
              </a:rPr>
              <a:t>/admin/platforms  •  /settings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120640"/>
            <a:ext cx="4892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플랫폼 CRUD + 활성/비활성 토글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AI 프롬프트 버전 관리 (1-click 활성화)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광고 임계값 슬라이더 / 인기 검색어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07 —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Admin API 엔드포인트 (총 25+)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3707" y="1691640"/>
            <a:ext cx="370332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307" y="19659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PIPELINE / QUEUE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2307.5" y="2404872"/>
            <a:ext cx="324612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307" y="2560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/api/admin/queues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/api/admin/queues/[name]/pause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34747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/api/admin/queues/[name]/resume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3931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/api/admin/queues/[name]/retry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4389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DELETE /api/admin/queues/[name]/jobs/[id]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" y="4846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/api/admin/workers/start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" y="5303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/api/admin/crawl/trigger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4187" y="1691640"/>
            <a:ext cx="370332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787" y="19659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Apple SD Gothic Neo"/>
              </a:rPr>
              <a:t>CONTENT MANAGEMENT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72787.5" y="2404872"/>
            <a:ext cx="324612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72787" y="2560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787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PATCH  /api/admin/products/[id]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787" y="34747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/api/admin/products/repair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2787" y="3931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787" y="4389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PATCH  /api/admin/sponsored-reviews/[id]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4846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/api/admin/reindex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2787" y="5303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/api/admin/stats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4667" y="1691640"/>
            <a:ext cx="3703320" cy="4663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3267" y="19659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Apple SD Gothic Neo"/>
              </a:rPr>
              <a:t>SETTINGS &amp; PROMPTS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13267.5" y="2404872"/>
            <a:ext cx="3246120.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13267" y="2560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/api/admin/prompts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3267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/api/admin/prompts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267" y="34747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/api/admin/prompts/[id]/activate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3931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/api/admin/settings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4389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PATCH  /api/admin/settings/[key]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4846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GET    /api/admin/platforms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5303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5E5"/>
                </a:solidFill>
                <a:latin typeface="Menlo"/>
              </a:rPr>
              <a:t>POST   /api/admin/platforms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08 —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Docker Compose 서비스 구성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6567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1920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enlo"/>
              </a:rPr>
              <a:t>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2377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443 → 3000 리버스 프록시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Let's Encrypt 자동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1920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Menlo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2377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Next.js 15 (standalone)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App Router · API · 미들웨어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1847" y="1920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Menlo"/>
              </a:rPr>
              <a:t>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847" y="2377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BullMQ Worker (5 큐)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crawl · ai · summary · index · maintenance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567" y="33375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887" y="3566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Menlo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887" y="4023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MySQL 8.0 + 영속 볼륨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Drizzle 마이그레이션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7047" y="33375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3566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B308"/>
                </a:solidFill>
                <a:latin typeface="Menlo"/>
              </a:rPr>
              <a:t>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023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Redis 7 (큐 + 캐시)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appendonly 활성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7527" y="33375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1847" y="3566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enlo"/>
              </a:rPr>
              <a:t>elasticsearch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4023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ES 8 + Nori 한글 분석기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색인 자동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ple SD Gothic Neo"/>
              </a:rPr>
              <a:t>infra/docker-compose.dev.yml — 단일 EC2 t3.medium에서 6개 컨테이너 안정 운영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08 —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GitHub Actions CI/CD (6단계)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10911535" cy="621792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37944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56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5623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push to dev branch → workflow 시작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04872"/>
            <a:ext cx="10911535" cy="621792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51176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694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6946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pnpm install → pnpm build (Next.js standalone)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18104"/>
            <a:ext cx="10911535" cy="621792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264408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826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Type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82696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tsc --noEmit + lint 통과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31336"/>
            <a:ext cx="10911535" cy="621792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977640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95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9592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Docker 이미지 빌드 + GHCR 업로드 (캐시 활용)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44568"/>
            <a:ext cx="10911535" cy="621792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690872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9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EC2 SSH → docker compose pull &amp;&amp; up -d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10911535" cy="621792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404104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4223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42239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5E5"/>
                </a:solidFill>
                <a:latin typeface="Apple SD Gothic Neo"/>
              </a:rPr>
              <a:t>/api/health 헬스체크 + Slack 알림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09 —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기술적 도전과 해결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3727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1874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동적 콘텐츠 크롤링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2331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Apple SD Gothic Neo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07" y="233172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SPA로 렌더링되는 리뷰는 fetch로 못 가져옴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Apple SD Gothic Neo"/>
              </a:rPr>
              <a:t>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407" y="288036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Playwright 헤드리스로 실제 렌더링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User-Agent 로테이션 + 적응형 대기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874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pple SD Gothic Neo"/>
              </a:rPr>
              <a:t>AI 분석 정확도 &amp; 비용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331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Apple SD Gothic Neo"/>
              </a:rPr>
              <a:t>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5967" y="233172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GPT-4 비용 부담 + 토큰 limit 초과 위험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Apple SD Gothic Neo"/>
              </a:rPr>
              <a:t>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5967" y="288036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GPT-4o-mini + 15개 배치 + Structured Output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→ 비용 93% 절감 / 오탐률 5% / 처리 8x 향상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3727" y="4114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047" y="42976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ple SD Gothic Neo"/>
              </a:rPr>
              <a:t>체형 정보 파싱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47" y="4754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Apple SD Gothic Neo"/>
              </a:rPr>
              <a:t>문제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2407" y="475488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'170/65', '키170 몸무게65' 등 완전 자유서식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" y="5303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Apple SD Gothic Neo"/>
              </a:rPr>
              <a:t>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2407" y="530352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정규식 + AI fallback 2단계 파이프라인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표준 스키마 (height/weight/usualSize)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4114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42976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Apple SD Gothic Neo"/>
              </a:rPr>
              <a:t>Next.js 빌드 안전성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4754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Apple SD Gothic Neo"/>
              </a:rPr>
              <a:t>문제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475488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AAAAA"/>
                </a:solidFill>
                <a:latin typeface="Apple SD Gothic Neo"/>
              </a:rPr>
              <a:t>빌드 시 DB/OpenAI 클라이언트 인스턴스화 충돌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5303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Apple SD Gothic Neo"/>
              </a:rPr>
              <a:t>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5967" y="530352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Lazy Proxy + Lazy Singleton 패턴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5E5E5"/>
                </a:solidFill>
                <a:latin typeface="Apple SD Gothic Neo"/>
              </a:rPr>
              <a:t>serverExternalPackages 설정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ple SD Gothic Neo"/>
              </a:rPr>
              <a:t>10 —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5E5E5"/>
                </a:solidFill>
                <a:latin typeface="Apple SD Gothic Neo"/>
              </a:rPr>
              <a:t>성과 및 지표 — AI KPI 중심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5147" y="1691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147" y="192024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4ADE80"/>
                </a:solidFill>
                <a:latin typeface="Apple SD Gothic Neo"/>
              </a:rPr>
              <a:t>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7889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AI 분석 비용 절감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GPT-4 → 4o-mini + 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9787" y="1691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9787" y="192024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60A5FA"/>
                </a:solidFill>
                <a:latin typeface="Apple SD Gothic Neo"/>
              </a:rPr>
              <a:t>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2667" y="27889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광고 오탐률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(샘플 1,000건 수동 검증)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691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4427" y="192024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C084FC"/>
                </a:solidFill>
                <a:latin typeface="Apple SD Gothic Neo"/>
              </a:rPr>
              <a:t>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7889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리뷰 처리 속도 향상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(15개 배치 + concurrency=5)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9067" y="1691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9067" y="192024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FB923C"/>
                </a:solidFill>
                <a:latin typeface="Apple SD Gothic Neo"/>
              </a:rPr>
              <a:t>99.5%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1947" y="27889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크롤링 성공률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AAAAAA"/>
                </a:solidFill>
                <a:latin typeface="Apple SD Gothic Neo"/>
              </a:rPr>
              <a:t>(Playwright + 3회 재시도)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향후 발전 방향 (Roadmap)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5254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84FC"/>
                </a:solidFill>
                <a:latin typeface="Menlo"/>
              </a:rPr>
              <a:t>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35254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E5E5"/>
                </a:solidFill>
                <a:latin typeface="Apple SD Gothic Neo"/>
              </a:rPr>
              <a:t>뷰티/가전 카테고리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352544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pple SD Gothic Neo"/>
              </a:rPr>
              <a:t>카테고리별 속성 스키마 + 전용 AI 프롬프트 버전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9262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Menlo"/>
              </a:rPr>
              <a:t>v2.5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9926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E5E5"/>
                </a:solidFill>
                <a:latin typeface="Apple SD Gothic Neo"/>
              </a:rPr>
              <a:t>ML 사이즈 예측 모델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992624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pple SD Gothic Neo"/>
              </a:rPr>
              <a:t>리뷰 체형 데이터 기반 핏 예측 (XGBoost/경량 모델)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8640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3270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Menlo"/>
              </a:rPr>
              <a:t>v3.0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63270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E5E5"/>
                </a:solidFill>
                <a:latin typeface="Apple SD Gothic Neo"/>
              </a:rPr>
              <a:t>AI Fine-tuning &amp; RAG 챗봇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632704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pple SD Gothic Neo"/>
              </a:rPr>
              <a:t>human_override 정답 데이터로 커스텀 모델 + 소셜 팔로우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pple SD Gothic Neo"/>
              </a:rPr>
              <a:t>리뷰모으기 (Reviews Service) —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Apple SD Gothic Neo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ple SD Gothic Neo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0" b="1">
                <a:solidFill>
                  <a:srgbClr val="E5E5E5"/>
                </a:solidFill>
                <a:latin typeface="Apple SD Gothic Neo"/>
              </a:rPr>
              <a:t>리뷰모으기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  <a:latin typeface="Apple SD Gothic Neo"/>
              </a:rPr>
              <a:t>진짜 리뷰만, 한곳에  •  AI로 광고 걸러내고, 체형 맞춤으로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847" y="4937760"/>
            <a:ext cx="4572000" cy="10058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9847" y="5120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88888"/>
                </a:solidFill>
                <a:latin typeface="Apple SD Gothic Neo"/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5440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Apple SD Gothic Neo"/>
              </a:rPr>
              <a:t>dopejk@gmail.com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pple SD Gothic Neo"/>
              </a:rPr>
              <a:t>JayKim · Full-Stack AI Developer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